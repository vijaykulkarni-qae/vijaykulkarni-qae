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86000"/>
            <a:ext cx="1828800" cy="36576"/>
          </a:xfrm>
          <a:prstGeom prst="rect">
            <a:avLst/>
          </a:prstGeom>
          <a:solidFill>
            <a:srgbClr val="00B4A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468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Multi-Agent Development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AI Agents That Build Software Like a Real Team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2976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4-Level Hierarchy  |  Phase-Gate Workflow  |  12 Artifact Templates  |  Self-Improving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Vijaykumar S. Kulkarni  |  Senior QA Engineer  |  github.com/vijaykulkarni-qae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371600" cy="36576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94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I Solved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777240"/>
          </a:xfrm>
          <a:prstGeom prst="roundRect">
            <a:avLst>
              <a:gd name="adj" fmla="val 11765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481328"/>
            <a:ext cx="548640" cy="548640"/>
          </a:xfrm>
          <a:prstGeom prst="ellipse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813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45920" y="13898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coding tools lack structure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1907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Copilot, Cursor, ChatGPT — great at code completion, terrible at planning. No architecture review, no quality gates, no team dynamics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0515600" cy="777240"/>
          </a:xfrm>
          <a:prstGeom prst="roundRect">
            <a:avLst>
              <a:gd name="adj" fmla="val 11765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441448"/>
            <a:ext cx="548640" cy="548640"/>
          </a:xfrm>
          <a:prstGeom prst="ellipse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45920" y="235000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first, think later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6791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AI workflows jump straight to writing code. Result: spaghetti that works today, breaks tomorrow, and nobody can maintain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291840"/>
            <a:ext cx="10515600" cy="777240"/>
          </a:xfrm>
          <a:prstGeom prst="roundRect">
            <a:avLst>
              <a:gd name="adj" fmla="val 11765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401568"/>
            <a:ext cx="548640" cy="548640"/>
          </a:xfrm>
          <a:prstGeom prst="ellipse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4015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45920" y="33101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persistent context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63931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AI conversation starts fresh. Decisions aren't logged. Architecture rationale is lost. The AI forgets why things were built a certain way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251960"/>
            <a:ext cx="10515600" cy="777240"/>
          </a:xfrm>
          <a:prstGeom prst="roundRect">
            <a:avLst>
              <a:gd name="adj" fmla="val 11765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4361688"/>
            <a:ext cx="548640" cy="548640"/>
          </a:xfrm>
          <a:prstGeom prst="ellipse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3616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7024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Single-agent bottleneck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45920" y="45994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AI doing everything — product thinking, architecture, coding, testing, security — is like one person doing every job on a team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5212080"/>
            <a:ext cx="10515600" cy="777240"/>
          </a:xfrm>
          <a:prstGeom prst="roundRect">
            <a:avLst>
              <a:gd name="adj" fmla="val 11765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5321808"/>
            <a:ext cx="548640" cy="548640"/>
          </a:xfrm>
          <a:prstGeom prst="ellipse">
            <a:avLst/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5321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645920" y="523036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quality enforcement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45920" y="555955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validation gates between phases. No peer review. No security audit. Ship it and hope — that's not engineering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371600" cy="36576"/>
          </a:xfrm>
          <a:prstGeom prst="rect">
            <a:avLst/>
          </a:prstGeom>
          <a:solidFill>
            <a:srgbClr val="007A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94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Built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13-agent framework organized in a 4-level hierarchy — mirroring how real engineering teams work.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agent has a single responsibility, defined inputs/outputs, and communicates through artifacts.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754880" y="2011680"/>
            <a:ext cx="2651760" cy="640080"/>
          </a:xfrm>
          <a:prstGeom prst="roundRect">
            <a:avLst>
              <a:gd name="adj" fmla="val 14286"/>
            </a:avLst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754880" y="20116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 (CEO)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0" y="2651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54880" y="2926080"/>
            <a:ext cx="2651760" cy="640080"/>
          </a:xfrm>
          <a:prstGeom prst="roundRect">
            <a:avLst>
              <a:gd name="adj" fmla="val 14286"/>
            </a:avLst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29260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CTO AGENT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06240" y="3840480"/>
            <a:ext cx="3749040" cy="640080"/>
          </a:xfrm>
          <a:prstGeom prst="roundRect">
            <a:avLst>
              <a:gd name="adj" fmla="val 14286"/>
            </a:avLst>
          </a:prstGeom>
          <a:solidFill>
            <a:srgbClr val="00B4A0"/>
          </a:solidFill>
          <a:ln w="12700">
            <a:solidFill>
              <a:srgbClr val="00B4A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06240" y="38404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(Project Manager)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0" y="44805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▼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73736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00B4A0"/>
          </a:solidFill>
          <a:ln w="12700">
            <a:solidFill>
              <a:srgbClr val="00B4A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0040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6344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2648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58952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FF8C00"/>
          </a:solidFill>
          <a:ln w="12700">
            <a:solidFill>
              <a:srgbClr val="FF8C0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05256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515600" y="4937760"/>
            <a:ext cx="1325880" cy="1280160"/>
          </a:xfrm>
          <a:prstGeom prst="roundRect">
            <a:avLst>
              <a:gd name="adj" fmla="val 7143"/>
            </a:avLst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515600" y="4937760"/>
            <a:ext cx="1325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Learning Agent, Hooks Agent, Skills Agent — 13 total agents, each with a cursor-rule file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371600" cy="36576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94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90/10 Philosophy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 planning, 10% coding. Every phase has exit criteria — no skipping ahead.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828800"/>
            <a:ext cx="2788920" cy="4754880"/>
          </a:xfrm>
          <a:prstGeom prst="roundRect">
            <a:avLst>
              <a:gd name="adj" fmla="val 3279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828800"/>
            <a:ext cx="2788920" cy="36576"/>
          </a:xfrm>
          <a:prstGeom prst="rect">
            <a:avLst/>
          </a:prstGeom>
          <a:solidFill>
            <a:srgbClr val="007ACC"/>
          </a:solidFill>
          <a:ln/>
        </p:spPr>
      </p:sp>
      <p:sp>
        <p:nvSpPr>
          <p:cNvPr id="7" name="Shape 5"/>
          <p:cNvSpPr/>
          <p:nvPr/>
        </p:nvSpPr>
        <p:spPr>
          <a:xfrm>
            <a:off x="1280160" y="2011680"/>
            <a:ext cx="548640" cy="54864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697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A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2423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Understand the problem deeply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proposing solutions.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stories &amp; pain points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Existing system analysis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Constraints &amp; trade-offs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Success criteria defined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246120" y="1828800"/>
            <a:ext cx="2788920" cy="4754880"/>
          </a:xfrm>
          <a:prstGeom prst="roundRect">
            <a:avLst>
              <a:gd name="adj" fmla="val 3279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1828800"/>
            <a:ext cx="2788920" cy="36576"/>
          </a:xfrm>
          <a:prstGeom prst="rect">
            <a:avLst/>
          </a:prstGeom>
          <a:solidFill>
            <a:srgbClr val="00B4A0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1960" y="2011680"/>
            <a:ext cx="548640" cy="548640"/>
          </a:xfrm>
          <a:prstGeom prst="ellipse">
            <a:avLst/>
          </a:prstGeom>
          <a:solidFill>
            <a:srgbClr val="00B4A0"/>
          </a:solidFill>
          <a:ln w="12700">
            <a:solidFill>
              <a:srgbClr val="00B4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697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B4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429000" y="3108960"/>
            <a:ext cx="2423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the architecture and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human alignment.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MVP_PLAN artifact created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SYSTEM_BLUEPRINT designed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API_CONTRACT defined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DECISIONS.md started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8932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788920" cy="4754880"/>
          </a:xfrm>
          <a:prstGeom prst="roundRect">
            <a:avLst>
              <a:gd name="adj" fmla="val 3279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828800"/>
            <a:ext cx="2788920" cy="36576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21" name="Shape 19"/>
          <p:cNvSpPr/>
          <p:nvPr/>
        </p:nvSpPr>
        <p:spPr>
          <a:xfrm>
            <a:off x="7223760" y="2011680"/>
            <a:ext cx="548640" cy="54864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2376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2697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B59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3108960"/>
            <a:ext cx="2423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with continuous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at each step.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Test-first development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Security review per module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Artifact updates as code ships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'big bang' integration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96112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189720" y="1828800"/>
            <a:ext cx="2788920" cy="4754880"/>
          </a:xfrm>
          <a:prstGeom prst="roundRect">
            <a:avLst>
              <a:gd name="adj" fmla="val 3279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89720" y="1828800"/>
            <a:ext cx="2788920" cy="36576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95560" y="2011680"/>
            <a:ext cx="548640" cy="54864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9556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326880" y="2697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Lifecycle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372600" y="3108960"/>
            <a:ext cx="2423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Maintain, learn, evolve.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Performance monitoring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Pattern learning captured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Framework improvements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Knowledge persistence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Confidence-scored insights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371600" cy="36576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94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Alignment Protocol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principle: AI never guesses. It asks until it understands, then proceeds with confidence.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00" cy="36576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659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 Conversation Flows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24231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"I need a dashboard for test results"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asks: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30632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"What test types? Who's the audience?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Real-time or historical? What data sources?"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37033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37033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"QA leads, Playwright results, real-time"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confirms: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434340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"Building: WebSocket dashboard for QA leads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showing live Playwright results with pass/fail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trends. Correct?"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49834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0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Human: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49834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"Yes, proceed."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3152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executes: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56235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plan → architecture → build →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validate → deploy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182880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1828800"/>
            <a:ext cx="5486400" cy="36576"/>
          </a:xfrm>
          <a:prstGeom prst="rect">
            <a:avLst/>
          </a:prstGeom>
          <a:solidFill>
            <a:srgbClr val="00B4A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9659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4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Alignment Behaviors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0" y="24231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assume scope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269748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 request is vague, ask 3 targeted questions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proposing a solution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3291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every decision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35661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DECISIONS.md captures what was chosen, what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rejected, and why — permanent record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1605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before building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44348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the plan, get explicit "proceed" before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a single line of code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5029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Escalate uncertainty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0" y="53035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confidence &lt; 70%, surface the uncertainty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the human rather than guessing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0" y="58978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from outcomes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0" y="617220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Confidence-scored patterns. High-confidence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insights get promoted to permanent rules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371600" cy="36576"/>
          </a:xfrm>
          <a:prstGeom prst="rect">
            <a:avLst/>
          </a:prstGeom>
          <a:solidFill>
            <a:srgbClr val="007AC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94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Get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just code — a structured development system with persistent knowledge.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37360"/>
            <a:ext cx="3383280" cy="36576"/>
          </a:xfrm>
          <a:prstGeom prst="rect">
            <a:avLst/>
          </a:prstGeom>
          <a:solidFill>
            <a:srgbClr val="007AC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A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Artifact Templates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MVP_PLAN, SYSTEM_BLUEPRINT, DECISIONS,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UX_SPEC, API_CONTRACT, DATA_MODEL,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TEST_STRATEGY, and more. Structured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markdown templates for every phase.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69080" y="173736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069080" y="1737360"/>
            <a:ext cx="3383280" cy="36576"/>
          </a:xfrm>
          <a:prstGeom prst="rect">
            <a:avLst/>
          </a:prstGeom>
          <a:solidFill>
            <a:srgbClr val="00B4A0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874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Event-Driven Hooks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2860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lifecycle, file edit validation,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dangerous command blocking, knowledge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persistence. Automation that prevents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AI coding mistakes.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680960" y="173736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680960" y="1737360"/>
            <a:ext cx="3383280" cy="36576"/>
          </a:xfrm>
          <a:prstGeom prst="rect">
            <a:avLst/>
          </a:prstGeom>
          <a:solidFill>
            <a:srgbClr val="9B59B6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0" y="1874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B59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Reusable Skills Library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863840" y="22860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Encapsulated, repeatable capabilities.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automation, database migrations,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setup — invoke by name,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consistent results.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023360"/>
            <a:ext cx="3383280" cy="36576"/>
          </a:xfrm>
          <a:prstGeom prst="rect">
            <a:avLst/>
          </a:prstGeom>
          <a:solidFill>
            <a:srgbClr val="FF8C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160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C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Confidence-Scored Learning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capture lessons with scores (0.3-0.9).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or global scope. High-confidence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patterns get promoted into permanent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behavioral rules. Agents that improve.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069080" y="402336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069080" y="4023360"/>
            <a:ext cx="3383280" cy="36576"/>
          </a:xfrm>
          <a:prstGeom prst="rect">
            <a:avLst/>
          </a:prstGeom>
          <a:solidFill>
            <a:srgbClr val="2ECC71"/>
          </a:solidFill>
          <a:ln/>
        </p:spPr>
      </p:sp>
      <p:sp>
        <p:nvSpPr>
          <p:cNvPr id="23" name="Text 21"/>
          <p:cNvSpPr/>
          <p:nvPr/>
        </p:nvSpPr>
        <p:spPr>
          <a:xfrm>
            <a:off x="4251960" y="4160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Logging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51960" y="45720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architectural choice logged with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context, alternatives considered, and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rationale. Six months later, you know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exactly why things were built this way.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680960" y="402336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262640"/>
          </a:solidFill>
          <a:ln w="12700">
            <a:solidFill>
              <a:srgbClr val="262640"/>
            </a:solidFill>
            <a:prstDash val="solid"/>
          </a:ln>
          <a:effectLst>
            <a:outerShdw sx="100000" sy="100000" kx="0" ky="0" algn="bl" rotWithShape="0" blurRad="76200" dist="25400" dir="162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80960" y="4023360"/>
            <a:ext cx="33832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41605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Cursor IDE Integration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863840" y="45720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cursor-rule files — one per agent.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into any project. Each rule activates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right agent behavior for the task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hand. Zero configuration needed.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1645920"/>
            <a:ext cx="3931920" cy="36576"/>
          </a:xfrm>
          <a:prstGeom prst="rect">
            <a:avLst/>
          </a:prstGeom>
          <a:solidFill>
            <a:srgbClr val="00B4A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 First. Code Second. Learn Always.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that works like a real team — because I designed it to think like one.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97280" y="38404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7A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9728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38404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38328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Hierarchy Levels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0" y="38404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CC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66928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 Templates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0" y="38404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59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95528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Gates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Vijaykumar S. Kulkarni  |  linkedin.com/in/vijaykulkarni-qae  |  github.com/vijaykulkarni-qae  |  vijaykumar.s.kulkarni@gmail.com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2026-03-31T05:10:11Z</dcterms:created>
  <dcterms:modified xsi:type="dcterms:W3CDTF">2026-03-31T05:10:11Z</dcterms:modified>
</cp:coreProperties>
</file>